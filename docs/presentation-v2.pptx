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5eb20a137d429a" /><Relationship Type="http://schemas.openxmlformats.org/officeDocument/2006/relationships/extended-properties" Target="/docProps/app.xml" Id="Ra6311194b17c4603" /><Relationship Type="http://schemas.openxmlformats.org/officeDocument/2006/relationships/officeDocument" Target="/ppt/presentation.xml" Id="Rfbe843b30bb444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2594f439db4154"/>
  </p:sldMasterIdLst>
  <p:notesMasterIdLst>
    <p:notesMasterId xmlns:r="http://schemas.openxmlformats.org/officeDocument/2006/relationships" r:id="R66d0f5fdaec84ed0"/>
  </p:notesMasterIdLst>
  <p:sldIdLst>
    <p:sldId xmlns:r="http://schemas.openxmlformats.org/officeDocument/2006/relationships" id="256" r:id="R0e5023c794af4bf9"/>
    <p:sldId xmlns:r="http://schemas.openxmlformats.org/officeDocument/2006/relationships" id="257" r:id="Rc9c95abfa70e48dc"/>
    <p:sldId xmlns:r="http://schemas.openxmlformats.org/officeDocument/2006/relationships" id="258" r:id="R5c026d8b98aa48a4"/>
    <p:sldId xmlns:r="http://schemas.openxmlformats.org/officeDocument/2006/relationships" id="259" r:id="R8eac6d67643f4a74"/>
    <p:sldId xmlns:r="http://schemas.openxmlformats.org/officeDocument/2006/relationships" id="260" r:id="R3241492f903d40b3"/>
    <p:sldId xmlns:r="http://schemas.openxmlformats.org/officeDocument/2006/relationships" id="261" r:id="R13d2e46b09af4497"/>
    <p:sldId xmlns:r="http://schemas.openxmlformats.org/officeDocument/2006/relationships" id="262" r:id="Rcab9d40e3d7a41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807b77c3494434" /><Relationship Type="http://schemas.openxmlformats.org/officeDocument/2006/relationships/slideMaster" Target="/ppt/slideMasters/slideMaster1.xml" Id="Rb72594f439db4154" /><Relationship Type="http://schemas.openxmlformats.org/officeDocument/2006/relationships/notesMaster" Target="/ppt/notesMasters/notesMaster1.xml" Id="R66d0f5fdaec84ed0" /><Relationship Type="http://schemas.openxmlformats.org/officeDocument/2006/relationships/presProps" Target="/ppt/presProps.xml" Id="Rb496db7e52884c5a" /><Relationship Type="http://schemas.openxmlformats.org/officeDocument/2006/relationships/tableStyles" Target="/ppt/tableStyles.xml" Id="Re8cf1f85e1df473a" /><Relationship Type="http://schemas.openxmlformats.org/officeDocument/2006/relationships/slide" Target="/ppt/slides/slide1.xml" Id="R0e5023c794af4bf9" /><Relationship Type="http://schemas.openxmlformats.org/officeDocument/2006/relationships/slide" Target="/ppt/slides/slide2.xml" Id="Rc9c95abfa70e48dc" /><Relationship Type="http://schemas.openxmlformats.org/officeDocument/2006/relationships/slide" Target="/ppt/slides/slide3.xml" Id="R5c026d8b98aa48a4" /><Relationship Type="http://schemas.openxmlformats.org/officeDocument/2006/relationships/slide" Target="/ppt/slides/slide4.xml" Id="R8eac6d67643f4a74" /><Relationship Type="http://schemas.openxmlformats.org/officeDocument/2006/relationships/slide" Target="/ppt/slides/slide5.xml" Id="R3241492f903d40b3" /><Relationship Type="http://schemas.openxmlformats.org/officeDocument/2006/relationships/slide" Target="/ppt/slides/slide6.xml" Id="R13d2e46b09af4497" /><Relationship Type="http://schemas.openxmlformats.org/officeDocument/2006/relationships/slide" Target="/ppt/slides/slide7.xml" Id="Rcab9d40e3d7a41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1dff804de142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d8ed4497db4bff" /><Relationship Type="http://schemas.openxmlformats.org/officeDocument/2006/relationships/notesMaster" Target="/ppt/notesMasters/notesMaster1.xml" Id="Rc20db46b88394d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c0058ea537402a" /><Relationship Type="http://schemas.openxmlformats.org/officeDocument/2006/relationships/notesMaster" Target="/ppt/notesMasters/notesMaster1.xml" Id="R416d32cacf9745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dfd56ef7b24053" /><Relationship Type="http://schemas.openxmlformats.org/officeDocument/2006/relationships/notesMaster" Target="/ppt/notesMasters/notesMaster1.xml" Id="Ra2712e949f2d4a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6fbc7d08ba4226" /><Relationship Type="http://schemas.openxmlformats.org/officeDocument/2006/relationships/notesMaster" Target="/ppt/notesMasters/notesMaster1.xml" Id="R081e66a4ec6e4d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1d1b95a1ed4249" /><Relationship Type="http://schemas.openxmlformats.org/officeDocument/2006/relationships/notesMaster" Target="/ppt/notesMasters/notesMaster1.xml" Id="R17f92252039a47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6eab3510854e4a" /><Relationship Type="http://schemas.openxmlformats.org/officeDocument/2006/relationships/notesMaster" Target="/ppt/notesMasters/notesMaster1.xml" Id="Rb1969f2c1b284b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ea751b5fa4465f" /><Relationship Type="http://schemas.openxmlformats.org/officeDocument/2006/relationships/notesMaster" Target="/ppt/notesMasters/notesMaster1.xml" Id="R5ef427a2ac704c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FINRISK AI is a hackathon prototype. All bundled portfolio values and event examples are synthetic or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framing based on the supplied case statement. The prototype produces prioritization signals, not investment advice or validated loss forecasts.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flow and component boundaries are editable vector shapes. The implemented connectors are pull-based and invoked by the analyst in the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example event is synthetic/illustrative. The 4-report count and 87% confidence are seeded demo metadata, not measured source independence or calibrated probability.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Portfolio values are synthetic and sum to USD 850 million: loans 295, government bonds 160, corporate bonds 240, equity 110 and derivatives 45 (USD millions). Scenario shocks are assumptions, not forecasts.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describe bundled prototype configuration, not production throughput or model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validation metrics are claimed. The next steps describe a development path and do not imply existing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98584a2bbf47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41da490ad94ae3" /><Relationship Type="http://schemas.openxmlformats.org/officeDocument/2006/relationships/slideLayout" Target="/ppt/slideLayouts/slideLayout1.xml" Id="Raf1a2cea4a7743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1a2cea4a7743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c04d46a004521" /><Relationship Type="http://schemas.openxmlformats.org/officeDocument/2006/relationships/notesSlide" Target="/ppt/notesSlides/notesSlide1.xml" Id="R9254b6c468b147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1698330e7470f" /><Relationship Type="http://schemas.openxmlformats.org/officeDocument/2006/relationships/notesSlide" Target="/ppt/notesSlides/notesSlide2.xml" Id="R12009f8525bc4a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48c61cf294899" /><Relationship Type="http://schemas.openxmlformats.org/officeDocument/2006/relationships/notesSlide" Target="/ppt/notesSlides/notesSlide3.xml" Id="R36745b5d6d9a48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4663f7bb44ed4" /><Relationship Type="http://schemas.openxmlformats.org/officeDocument/2006/relationships/notesSlide" Target="/ppt/notesSlides/notesSlide4.xml" Id="R05648b3829ec4f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2b03a23ab403a" /><Relationship Type="http://schemas.openxmlformats.org/officeDocument/2006/relationships/chart" Target="/ppt/slides/charts/chart1.xml" Id="Ra3b91ab3001d4c4d" /><Relationship Type="http://schemas.openxmlformats.org/officeDocument/2006/relationships/notesSlide" Target="/ppt/notesSlides/notesSlide5.xml" Id="Rc10877aaf64b41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3ca36cc334ee1" /><Relationship Type="http://schemas.openxmlformats.org/officeDocument/2006/relationships/notesSlide" Target="/ppt/notesSlides/notesSlide6.xml" Id="Rb63edd2faa5140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2049700c54ab1" /><Relationship Type="http://schemas.openxmlformats.org/officeDocument/2006/relationships/notesSlide" Target="/ppt/notesSlides/notesSlide7.xml" Id="R7ef86e92dc27476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Asset-class exposure (USD millions)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 b="1">
              <a:solidFill>
                <a:srgbClr val="EDF3FA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Exposure (USD millions)</c:v>
          </c:tx>
          <c:spPr>
            <a:solidFill xmlns:a="http://schemas.openxmlformats.org/drawingml/2006/main">
              <a:srgbClr val="398CFF"/>
            </a:solidFill>
          </c:spPr>
          <c:cat>
            <c:strRef>
              <c:f>'Chart Data'!$A$2:$A$6</c:f>
              <c:strCache>
                <c:ptCount val="5"/>
                <c:pt idx="0">
                  <c:v>Loans</c:v>
                </c:pt>
                <c:pt idx="1">
                  <c:v>Gov. bonds</c:v>
                </c:pt>
                <c:pt idx="2">
                  <c:v>Corp. bonds</c:v>
                </c:pt>
                <c:pt idx="3">
                  <c:v>Equity</c:v>
                </c:pt>
                <c:pt idx="4">
                  <c:v>Derivatives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295</c:v>
                </c:pt>
                <c:pt idx="1">
                  <c:v>160</c:v>
                </c:pt>
                <c:pt idx="2">
                  <c:v>240</c:v>
                </c:pt>
                <c:pt idx="3">
                  <c:v>110</c:v>
                </c:pt>
                <c:pt idx="4">
                  <c:v>45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9AAABD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6384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6384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6384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F1D2D"/>
        </a:solidFill>
        <a:ln xmlns:a="http://schemas.openxmlformats.org/drawingml/2006/main" w="0">
          <a:solidFill>
            <a:srgbClr val="0F1D2D"/>
          </a:solidFill>
          <a:prstDash val="solid"/>
        </a:ln>
      </c:spPr>
    </c:plotArea>
    <c:plotVisOnly val="1"/>
  </c:chart>
  <c:spPr>
    <a:solidFill xmlns:a="http://schemas.openxmlformats.org/drawingml/2006/main">
      <a:srgbClr val="0F1D2D"/>
    </a:solidFill>
    <a:ln xmlns:a="http://schemas.openxmlformats.org/drawingml/2006/main" w="0">
      <a:solidFill>
        <a:srgbClr val="0F1D2D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3B0336-F9E6-4809-A798-6E112288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92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0F9BA-2097-4A23-A63B-BFC641CA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904875"/>
            <a:ext cx="9525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8925E-807C-4ADB-97E4-A1DC775E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FINRISK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CE8DF-89D3-4F2F-A340-64F4E3A7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858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Financial event</a:t>
            </a:r>
          </a:p>
          <a:p xmlns:a="http://schemas.openxmlformats.org/drawingml/2006/main">
            <a:pPr algn="l">
              <a:defRPr sz="3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intelligence &amp;</a:t>
            </a:r>
          </a:p>
          <a:p xmlns:a="http://schemas.openxmlformats.org/drawingml/2006/main">
            <a:pPr algn="l">
              <a:defRPr sz="3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portfolio 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79408-FB05-430C-9CB2-82F84644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Explainable signals, entity exposure mapping and illustrative portfolio stress testing in one analyst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B8635-2534-4DF9-BC0F-A76DA55A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6954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83CE6-083D-47E9-93D2-144E6888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244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HACKATHON PROTOTYPE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EF6E7-BE7A-4C1B-AF08-5876C300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S&amp;P Global &amp; CRISIL Campus Hackathon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C4836-F4C9-4094-AEE6-B7D1821C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43075"/>
            <a:ext cx="97155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84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403CB-DA0F-4E56-8660-701B4CDF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24125"/>
            <a:ext cx="97155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8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3891C-0387-4889-8557-BDB4FADE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81400"/>
            <a:ext cx="97155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8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8C436D-E6E5-4C6B-96E9-D052909A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10668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398C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27579-8CE9-4016-8E0E-729DCFAA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2877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98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98CFF"/>
                </a:solidFill>
                <a:latin typeface="Helvetica Neue"/>
                <a:ea typeface="Helvetica Neue"/>
                <a:cs typeface="Helvetica Neue"/>
              </a:rPr>
              <a:t>NEWS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85C3C-C8AC-42B0-BFE0-6F379762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57425"/>
            <a:ext cx="10668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F1B84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66797-D31A-490E-ABDD-37AC939B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1935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1B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F1B84B"/>
                </a:solidFill>
                <a:latin typeface="Helvetica Neue"/>
                <a:ea typeface="Helvetica Neue"/>
                <a:cs typeface="Helvetica Neue"/>
              </a:rPr>
              <a:t>EVENT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7B764-6EBE-457D-9BEE-A64C1EA3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05175"/>
            <a:ext cx="10668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41C4B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3C134-BB2A-4C57-8003-79D18CAD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671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DC4B5-CDA4-4AAA-A5A7-A9F226CE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81500"/>
            <a:ext cx="10668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39BB9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00EB5-1132-473A-9C12-2B3B7EBF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434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9BB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39BB94"/>
                </a:solidFill>
                <a:latin typeface="Helvetica Neue"/>
                <a:ea typeface="Helvetica Neue"/>
                <a:cs typeface="Helvetica Neue"/>
              </a:rPr>
              <a:t>PORTFOLIO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3A8EC-4F49-43DF-B0A9-DEDB38C7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40067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Signal → exposure → stress result</a:t>
            </a:r>
          </a:p>
        </p:txBody>
      </p:sp>
    </p:spTree>
    <p:extLst>
      <p:ext uri="{BB962C8B-B14F-4D97-AF65-F5344CB8AC3E}">
        <p14:creationId xmlns:p14="http://schemas.microsoft.com/office/powerpoint/2010/main" val="106830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D8A7B-7AF9-4C99-9BA2-1A615A67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FINRISK AI · RISK INTELLIGENCE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BADD2-6FE9-4FC7-8D5E-C2827855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Business problem &amp; product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F1D71-E9FF-4FB2-AD4D-5FB80404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05D5F-5C8B-4FF6-9F97-447DF055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SYNTHETIC DATA · ILLUSTRATIVE SCENARIOS · NOT A PRODUCTION RISK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77EFD-F46E-4717-AFA7-FD953DCB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3352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Financial risk teams see a growing flow of fragmented news. The practical challenge is to connect an event to the balance-sheet exposures it could affect.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4CD7C-01D4-4799-A35A-45ECE21A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3286125" cy="2352675"/>
          </a:xfrm>
          <a:prstGeom xmlns:a="http://schemas.openxmlformats.org/drawingml/2006/main" prst="roundRect">
            <a:avLst>
              <a:gd name="adj" fmla="val 4049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98694-FE0E-4CF7-9846-D0B6E049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3810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C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EF720-D492-4B2B-8670-E97FC1AF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2924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398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398CFF"/>
                </a:solidFill>
                <a:latin typeface="Helvetica Neue"/>
                <a:ea typeface="Helvetica Neue"/>
                <a:cs typeface="Helvetica Neue"/>
              </a:rPr>
              <a:t>01 · INGEST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9FEEF-8BA8-415C-A281-600FF1B0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2905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One signal 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67D3C-9B2A-4BA8-A7C5-AA0F5D49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28860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Collect news from GDELT and configurable RSS; preserve source, timestamp and original text for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FC72E-2E69-4830-8FBB-9197A292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90775"/>
            <a:ext cx="3286125" cy="2352675"/>
          </a:xfrm>
          <a:prstGeom xmlns:a="http://schemas.openxmlformats.org/drawingml/2006/main" prst="roundRect">
            <a:avLst>
              <a:gd name="adj" fmla="val 4049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AE5C4-B376-4618-B8AE-F2FD53C9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90775"/>
            <a:ext cx="3810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C0CC8-AA9C-450B-B9CA-F004C214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43175"/>
            <a:ext cx="2924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1B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F1B84B"/>
                </a:solidFill>
                <a:latin typeface="Helvetica Neue"/>
                <a:ea typeface="Helvetica Neue"/>
                <a:cs typeface="Helvetica Neue"/>
              </a:rPr>
              <a:t>02 ·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1C0BE-E626-4426-B967-10C2CA0E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2905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Explain the 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2296E-FD6E-4C46-AC6D-68EEAB41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81350"/>
            <a:ext cx="28860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Classify event type, estimate sentiment and rank severity with visible evidence and confidence.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60B82-BFA5-4B09-9C86-F6F860A9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90775"/>
            <a:ext cx="3286125" cy="2352675"/>
          </a:xfrm>
          <a:prstGeom xmlns:a="http://schemas.openxmlformats.org/drawingml/2006/main" prst="roundRect">
            <a:avLst>
              <a:gd name="adj" fmla="val 4049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AFD55-C4B7-4844-A3BE-EDB5535C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90775"/>
            <a:ext cx="3810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B9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7925B-28BA-4F31-A6F1-9A0DF8F4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43175"/>
            <a:ext cx="2924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39BB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39BB94"/>
                </a:solidFill>
                <a:latin typeface="Helvetica Neue"/>
                <a:ea typeface="Helvetica Neue"/>
                <a:cs typeface="Helvetica Neue"/>
              </a:rPr>
              <a:t>03 · QUANTIFY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B7E4C-695F-458E-BF98-B258FF65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2905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Map to exposures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CE241-895C-4494-91F0-692D03BF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2886075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Connect entities to a synthetic wholesale portfolio and run a transparent event-linked scenario.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59134-3863-4F20-9E5D-3234F36C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Analyst outcome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82BCBB-B2C3-476E-B9A0-AB31155D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A traceable path from “what happened?” to “which exposures move under this scenario?”</a:t>
            </a:r>
          </a:p>
        </p:txBody>
      </p:sp>
    </p:spTree>
    <p:extLst>
      <p:ext uri="{BB962C8B-B14F-4D97-AF65-F5344CB8AC3E}">
        <p14:creationId xmlns:p14="http://schemas.microsoft.com/office/powerpoint/2010/main" val="3879736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3949F5-EBA2-4ECC-9EC5-19166211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FINRISK AI · RISK INTELLIGENCE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418E9-B4D8-4084-8CB4-C5029AAB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Modular architecture &amp; data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34BAC-DC42-427F-8E4A-1D3BD7CE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4D1DD-2F20-4673-9780-638CBD6E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SYNTHETIC DATA · ILLUSTRATIVE SCENARIOS · NOT A PRODUCTION RISK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1662C-2AAA-49C9-802F-FFCB333C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66900"/>
            <a:ext cx="1905000" cy="1057275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398C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ACAEE-2C5C-4498-8B80-7CDDF986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9775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D0E78-BAA9-413B-BF4D-70D9212F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GDELT · RSS</a:t>
            </a:r>
          </a:p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Analyst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30259-9736-4A82-8F46-AF9B3713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90775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29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26555-A422-4344-B20B-2C9B1BB1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394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2C186-A1E7-4646-9C6F-AF750632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66900"/>
            <a:ext cx="1905000" cy="1057275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41C4B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A9172-D19F-49F2-BE06-22083C72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9775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Ingestion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C5300-FA8E-4697-AB52-1C0DCD81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Timeouts · source URL</a:t>
            </a:r>
          </a:p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Sample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7457F-FB15-4771-91A6-46A4CD55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390775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29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00816-62E2-4814-8046-DE3AF427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394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AEF7D-AB61-4448-AED0-C94F6616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866900"/>
            <a:ext cx="1905000" cy="1057275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F1B84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3C439-D13F-40AF-9426-5E344991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9775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NLP &amp; entities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56FE9-40E6-4356-A502-055EE119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Lexical baseline</a:t>
            </a:r>
          </a:p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Event taxonomy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B9F02F-A3F9-4BDD-8AEA-B081D16F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90775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29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B5A43-43AD-440F-A72E-215B7AD8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394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608A75-6781-4C9A-B70E-9574059C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66900"/>
            <a:ext cx="1905000" cy="1057275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E96B7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529A8-CA2E-4E04-93CF-E4624AE9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9775"/>
            <a:ext cx="1619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Risk signals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E32D4-B387-4FCB-B7FE-69BAD6DB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Sentiment · impact</a:t>
            </a:r>
          </a:p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Evidence · confidence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61DCCF-5478-4352-89B5-F3F2A17B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390775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1829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7B866D-A5B8-4BD2-A467-25FE585C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2394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AC4935-3474-4BB7-A172-BD050164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866900"/>
            <a:ext cx="1809750" cy="1057275"/>
          </a:xfrm>
          <a:prstGeom xmlns:a="http://schemas.openxmlformats.org/drawingml/2006/main" prst="roundRect">
            <a:avLst>
              <a:gd name="adj" fmla="val 9009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39BB9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426F6D-431B-4623-9FB9-97CFAF44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9775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792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Stress engine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E9CE06-FF3C-4BE4-9150-E3F6540E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Scenario shocks</a:t>
            </a:r>
          </a:p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Asset-level P&amp;L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A2E0B7-3A4B-4784-B56C-F7DB9832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95700"/>
            <a:ext cx="7962900" cy="1457325"/>
          </a:xfrm>
          <a:prstGeom xmlns:a="http://schemas.openxmlformats.org/drawingml/2006/main" prst="roundRect">
            <a:avLst>
              <a:gd name="adj" fmla="val 6536"/>
            </a:avLst>
          </a:prstGeom>
          <a:solidFill xmlns:a="http://schemas.openxmlformats.org/drawingml/2006/main">
            <a:srgbClr val="0D1927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69903-0AAD-44AD-A8B2-59DA5887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862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API &amp; persistence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57CBEC-6226-41A9-996B-79D42893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29100"/>
            <a:ext cx="3000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FastAPI · Pydantic · SQLAlchemy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BFF3EE-C0E2-4124-980B-F813EA37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14850"/>
            <a:ext cx="3333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SQLite locally / PostgreSQL in Compose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9F09FF-AD1D-461E-AC07-C8CB0DB0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924175"/>
            <a:ext cx="953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84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01AF32-09A0-4DB5-B16D-DD5CE2EF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924175"/>
            <a:ext cx="953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84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3D9BAA-82F5-4AD9-ACBE-CD39C8E0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24175"/>
            <a:ext cx="953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84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4D0179-18CE-49D4-A0CB-5C96D436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24175"/>
            <a:ext cx="5715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84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800DE9-A49A-45B6-85D8-64C002A5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67350"/>
            <a:ext cx="4572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6FB0F4-EB8E-4638-8F5B-142E42ED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600700"/>
            <a:ext cx="414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BD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ABD1FF"/>
                </a:solidFill>
                <a:latin typeface="Helvetica Neue"/>
                <a:ea typeface="Helvetica Neue"/>
                <a:cs typeface="Helvetica Neue"/>
              </a:rPr>
              <a:t>React + TypeScript analyst dashboard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15E533-E49C-4A4F-B7B6-B6A7BD5C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953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384D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5216A5-1B31-4BF4-A36F-ADD53541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388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Modular monolith for the MVP; queues and independent inference workers are a scale path, not a day-one dependency.</a:t>
            </a:r>
          </a:p>
        </p:txBody>
      </p:sp>
    </p:spTree>
    <p:extLst>
      <p:ext uri="{BB962C8B-B14F-4D97-AF65-F5344CB8AC3E}">
        <p14:creationId xmlns:p14="http://schemas.microsoft.com/office/powerpoint/2010/main" val="21183344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371B93-E659-49E4-AE37-125F4B5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FINRISK AI · RISK INTELLIGENCE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F40A2-FE2E-4C50-97D5-F0D0FFF3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Risk signal: evidence before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0BD9D-E60B-44CF-9CCC-39BE9B53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18A56-2BE1-42E9-96F2-C1CC5610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SYNTHETIC DATA · ILLUSTRATIVE SCENARIOS · NOT A PRODUCTION RISK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6635D-0D69-48F5-BC7C-DD5833F6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6619875" cy="4000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586229-69CB-4D3C-AA74-D19C781D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19275"/>
            <a:ext cx="581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1B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F1B84B"/>
                </a:solidFill>
                <a:latin typeface="Helvetica Neue"/>
                <a:ea typeface="Helvetica Neue"/>
                <a:cs typeface="Helvetica Neue"/>
              </a:rPr>
              <a:t>SYNTHETIC DEMO EVENT · GEOPOLITICAL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4062F-2B57-4618-9092-DEA4B0E1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43125"/>
            <a:ext cx="595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714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Red Sea shipping disruption lifts freight and energy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A12FB-9CA4-4C8E-BFDD-F5CE979B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990850"/>
            <a:ext cx="5857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“Insurers raise premiums as vessels reroute around the Red Sea. The disruption is adding transit time and cost pressure across global supply chains and energy markets.”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03C56-9CF6-479D-89B0-76DCF3A6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981450"/>
            <a:ext cx="6010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BD748-5790-4784-ABFC-ACAA5232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00525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0E8B2-C2EE-469E-8FFB-11EF81FD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100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Maersk · Industrials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DE2A0-B92F-4FB8-8B51-D7E599ED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00525"/>
            <a:ext cx="1524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SOURCE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113E5-195E-489F-8789-4CFC1010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4100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4 reports in seed example*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784ECC-C4DA-4343-9915-4C4A5CFD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43475"/>
            <a:ext cx="1238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MODEL LABEL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A206A-D2F4-4F46-93D1-76CA5877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43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DEMO_HEURISTIC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0CA92-BAA1-46BF-8FE3-B4DEEF64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85925"/>
            <a:ext cx="3905250" cy="7143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F70CB-70D1-4D56-9740-3D000317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85925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6477DA-9387-4D28-8B64-46227EF4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09750"/>
            <a:ext cx="1476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SENTIMENT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88AB8-E36C-4FE9-8061-673A2C02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97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9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E96B73"/>
                </a:solidFill>
                <a:latin typeface="Helvetica Neue"/>
                <a:ea typeface="Helvetica Neue"/>
                <a:cs typeface="Helvetica Neue"/>
              </a:rPr>
              <a:t>−0.71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30B36-A864-4369-8BBB-D88F1DCB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81275"/>
            <a:ext cx="3905250" cy="7143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14657-2B2E-4B9A-93E6-48256FE8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81275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6DC8B4-C0FC-4062-80EA-08740811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05100"/>
            <a:ext cx="1476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EVENT TYPE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F4941-9CF1-470E-9CD6-2BC3E492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0512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1B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1B84B"/>
                </a:solidFill>
                <a:latin typeface="Helvetica Neue"/>
                <a:ea typeface="Helvetica Neue"/>
                <a:cs typeface="Helvetica Neue"/>
              </a:rPr>
              <a:t>Geopolitical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3C3E89-29E6-4077-AF7D-19EBDF25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3905250" cy="7143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E3E457-936D-42B6-8D6C-9FABA7B2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DE3AC3-22F6-40CA-9193-26764CA2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1476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IMPACT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BF0A7C-0AFE-464A-B0DF-977AA5C5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0047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9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E96B73"/>
                </a:solidFill>
                <a:latin typeface="Helvetica Neue"/>
                <a:ea typeface="Helvetica Neue"/>
                <a:cs typeface="Helvetica Neue"/>
              </a:rPr>
              <a:t>8 / 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AACA01-13C4-4570-8151-5BB5F6DF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71975"/>
            <a:ext cx="3905250" cy="7143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79BC6B-A9C0-405E-BC59-49D1646A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371975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C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EC57E6-A684-4C1D-A1BF-188BCED4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95800"/>
            <a:ext cx="1476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CONFIDENCE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DEA2F3-37C5-44BF-A917-1530A06F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95825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98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398CFF"/>
                </a:solidFill>
                <a:latin typeface="Helvetica Neue"/>
                <a:ea typeface="Helvetica Neue"/>
                <a:cs typeface="Helvetica Neue"/>
              </a:rPr>
              <a:t>87%*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91B6BF-6678-4AC7-A4ED-EE069498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8640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145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*Seeded illustrative metadata; source independence and confidence are not independently verified.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CCDF97-969F-4BE5-9397-633CCC3F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9245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Analyst 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166E06-04BD-470B-89EA-C2E8C801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8578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Original wording, source links and scoring rationale stay inspectable.</a:t>
            </a:r>
          </a:p>
        </p:txBody>
      </p:sp>
    </p:spTree>
    <p:extLst>
      <p:ext uri="{BB962C8B-B14F-4D97-AF65-F5344CB8AC3E}">
        <p14:creationId xmlns:p14="http://schemas.microsoft.com/office/powerpoint/2010/main" val="11681334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04A0BB-0FA3-44FC-B027-4D89065B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FINRISK AI · RISK INTELLIGENCE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187FE-1EFF-43A8-A7A8-248E64A7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Portfolio stress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6C9D2-DB4C-4BC7-8423-9335EE46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26BDB-C71A-4FD5-A80E-796D9456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SYNTHETIC DATA · ILLUSTRATIVE SCENARIOS · NOT A PRODUCTION RISK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6C4F1-043D-4D0A-87B2-2A6F2F77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1447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A scenario converts event classification into a portfolio-level sensitivity view. The analyst can inspect inputs, asset results and the contribution to total change.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619125" y="2247900"/>
          <a:ext xmlns:a="http://schemas.openxmlformats.org/drawingml/2006/main" cx="5619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b91ab3001d4c4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67063-D8EA-4B24-8CC5-200BAAEE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28825"/>
            <a:ext cx="5143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SYNTHETIC PORTFOLIO · USD 850M TOTAL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14112-221E-40E2-B162-453C4BEB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085975"/>
            <a:ext cx="4867275" cy="3209925"/>
          </a:xfrm>
          <a:prstGeom xmlns:a="http://schemas.openxmlformats.org/drawingml/2006/main" prst="roundRect">
            <a:avLst>
              <a:gd name="adj" fmla="val 2967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D39E4-C44E-4C6F-94D4-FF0E353A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431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Geopolitical energy disruption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6457E-3567-4A98-B494-0B86A8DD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6860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Illustrative shock 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024855-20B0-4864-8E87-275248FE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956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Rates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B34C1-017D-493E-8C67-D2C3123F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+50 bps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0C849-8BA0-4BF4-AAF1-B304687F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371850"/>
            <a:ext cx="428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9D332-B9F8-4C73-B9B5-8B8E31E3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4385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Credit spreads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24CD5-50BF-486C-811A-57252FB1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4385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+125 bps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C41EA9-31D7-4A3B-AC5F-248A22A7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14750"/>
            <a:ext cx="428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16E66-F8E8-4AC8-8518-FDABDC70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81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Equities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4DEB12-9A90-42D3-8420-3973908F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814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−12%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44E2C-3248-4781-B575-6D86A337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057650"/>
            <a:ext cx="428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6B834-443D-4538-865F-C3A8CA20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243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Energy-linked proxy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E9E05E-C568-4BC9-AA6E-F73E1A60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243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+18%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75829D-E05F-407D-80A2-1CFDEC16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400550"/>
            <a:ext cx="428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EA49CF-BACD-4AB4-8E59-C259C58E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4672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Loan PD multiplier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04FF51-A48B-41F0-BBE8-EA6B7284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67225"/>
            <a:ext cx="1209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×1.35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F7D8C0-573A-419A-B568-D44F3D6E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743450"/>
            <a:ext cx="4286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A933A7-31D7-4BAA-B382-10A3836B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72125"/>
            <a:ext cx="123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12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Stress method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B6E4D-FBD3-4552-9C30-2B93AD71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Duration approximation for bonds · PD×LGD×EAD change for loans · percentage shock for equity · proxy beta for derivatives.</a:t>
            </a:r>
          </a:p>
        </p:txBody>
      </p:sp>
    </p:spTree>
    <p:extLst>
      <p:ext uri="{BB962C8B-B14F-4D97-AF65-F5344CB8AC3E}">
        <p14:creationId xmlns:p14="http://schemas.microsoft.com/office/powerpoint/2010/main" val="1626971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1FEE22-8592-43D3-B787-AED3BE3D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FINRISK AI · RISK INTELLIGENCE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11385-394D-41DF-967C-995EC074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Working prototype &amp; demonstration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1D9D7-8D88-49B2-BA05-EC5CEEDC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5AF4B-9412-49CC-8F39-B682F650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SYNTHETIC DATA · ILLUSTRATIVE SCENARIOS · NOT A PRODUCTION RISK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2D379-A374-4340-86C1-63976346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43075"/>
            <a:ext cx="2419350" cy="1895475"/>
          </a:xfrm>
          <a:prstGeom xmlns:a="http://schemas.openxmlformats.org/drawingml/2006/main" prst="roundRect">
            <a:avLst>
              <a:gd name="adj" fmla="val 5025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4571C-0C1A-4E9B-B876-82E248F0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71675"/>
            <a:ext cx="2038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398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398C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C4EB7-788E-4BBF-85C0-B2D14229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5747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SEEDED EVENT SIGNALS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F1B75-F6EC-4DF0-A66D-82C7D60D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News sample feed with source labels, event type, sentiment, heuristic impact and explainability.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49627-7446-4C6F-A5C1-B5E10501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43075"/>
            <a:ext cx="2419350" cy="1895475"/>
          </a:xfrm>
          <a:prstGeom xmlns:a="http://schemas.openxmlformats.org/drawingml/2006/main" prst="roundRect">
            <a:avLst>
              <a:gd name="adj" fmla="val 5025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AC649-2F90-4269-AA9E-CBD92229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71675"/>
            <a:ext cx="2038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663D3-FCFF-40B2-8449-B6771C41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5747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INGESTION CONNECTORS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7678F-AD29-4D48-AF56-C7D8191F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03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GDELT and configurable RSS pull paths; a failed source does not remove the offline demo.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6DC8C-51AF-4D53-A4AE-06F16CC2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43075"/>
            <a:ext cx="2419350" cy="1895475"/>
          </a:xfrm>
          <a:prstGeom xmlns:a="http://schemas.openxmlformats.org/drawingml/2006/main" prst="roundRect">
            <a:avLst>
              <a:gd name="adj" fmla="val 5025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B2CA3-C0F2-4F1B-BCDA-44D6D737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71675"/>
            <a:ext cx="2038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1B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F1B84B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724F9-D2E1-4099-9862-DEB6AE6C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5747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SYNTHETIC ASSETS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EB9C5-6B5E-42F6-8DF8-D12B3332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003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Loans, government and corporate bonds, equity and a derivative proxy.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F38DA-5B4D-49D7-84E3-C479AFD5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743075"/>
            <a:ext cx="2419350" cy="1895475"/>
          </a:xfrm>
          <a:prstGeom xmlns:a="http://schemas.openxmlformats.org/drawingml/2006/main" prst="roundRect">
            <a:avLst>
              <a:gd name="adj" fmla="val 5025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EA67B-31B5-4C45-A11A-3D9BE5CB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71675"/>
            <a:ext cx="2038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39BB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39BB94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C5789D-25C9-433D-9E08-5542A43A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57475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SCENARIOS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FA847C-0A46-4152-9371-C406FADC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037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Geopolitical, slowdown, rates, credit deterioration and broad equity drawdown.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52F2A-11DD-4232-9A1D-55C4FC92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09347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C1826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FF3679-C289-4A6C-8A4B-FBF20EDE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End-to-end demo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3CCB2-2510-4F75-AA37-7263C98B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1752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D270DD-1458-4BB2-9659-CC3B8452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01   Inspect signal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F71C40-FA39-42A5-BA29-F27C937B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819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722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AF52D0-6FEB-4571-AEF8-2956F30E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24400"/>
            <a:ext cx="1752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AC4259-2182-4E46-B935-717ECBEF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02   Trace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B07078-C58E-49DF-A266-E7B80B33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819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722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EDB47D-FD38-41C8-894B-C0946A0D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24400"/>
            <a:ext cx="1752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5DBA67-EE2D-4D88-99D1-8AAFE130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577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03   Map entity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A8EA65-3EB9-4E1C-9F1D-0CE88D08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19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722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27BD33-0658-4EBA-B12D-9719B737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24400"/>
            <a:ext cx="1752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A33730-4868-4C6C-8FC0-8222FF4A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04   Select scenario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82B8C4-479D-4504-B3B3-9C61DA99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196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722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CEAC9F-0A16-42C9-98AD-5218744B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24400"/>
            <a:ext cx="1752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0B1DFC-1231-41EB-8506-D494078C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05   Review asset P&amp;L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9A2068-2A05-4199-9000-C2818BE9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76925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API-backed React dashboard · FastAPI OpenAPI docs · SQLite or PostgreSQL · Docker Compose</a:t>
            </a:r>
          </a:p>
        </p:txBody>
      </p:sp>
    </p:spTree>
    <p:extLst>
      <p:ext uri="{BB962C8B-B14F-4D97-AF65-F5344CB8AC3E}">
        <p14:creationId xmlns:p14="http://schemas.microsoft.com/office/powerpoint/2010/main" val="19502084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3E4C46-6097-4284-A8C5-5ED55476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FINRISK AI · RISK INTELLIGENCE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CDBCC-83DD-4F2E-996B-C1B79FE8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Limitations &amp;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2880C-16B4-4975-9FFC-E2BED8E8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0972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1993F-9E23-469E-B9C0-788DA4FA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675" b="1" i="0">
                <a:solidFill>
                  <a:srgbClr val="718299"/>
                </a:solidFill>
                <a:latin typeface="Helvetica Neue"/>
                <a:ea typeface="Helvetica Neue"/>
                <a:cs typeface="Helvetica Neue"/>
              </a:rPr>
              <a:t>SYNTHETIC DATA · ILLUSTRATIVE SCENARIOS · NOT A PRODUCTION RISK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4C7F2-8DEE-4FF9-8868-A8C4A21B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5105400" cy="1704975"/>
          </a:xfrm>
          <a:prstGeom xmlns:a="http://schemas.openxmlformats.org/drawingml/2006/main" prst="roundRect">
            <a:avLst>
              <a:gd name="adj" fmla="val 5587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A3DF0-1EEF-4C82-A24C-B7518CCE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66875"/>
            <a:ext cx="381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84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B9A88-AAF7-4762-93BF-B634D1CE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474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1B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F1B84B"/>
                </a:solidFill>
                <a:latin typeface="Helvetica Neue"/>
                <a:ea typeface="Helvetica Neue"/>
                <a:cs typeface="Helvetica Neue"/>
              </a:rPr>
              <a:t>CURRENT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15DD3-68B8-4EC7-BD4B-4095097B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66925"/>
            <a:ext cx="472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Lexical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49FE6-FC29-42DB-AB36-DD102734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47053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No FinBERT weights or labeled evaluation corpus are bundled. Sentiment, event labels and confidence are not calibrated.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E0001D-5DC1-42A9-9DF5-67CB43C9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66875"/>
            <a:ext cx="5105400" cy="1704975"/>
          </a:xfrm>
          <a:prstGeom xmlns:a="http://schemas.openxmlformats.org/drawingml/2006/main" prst="roundRect">
            <a:avLst>
              <a:gd name="adj" fmla="val 5587"/>
            </a:avLst>
          </a:prstGeom>
          <a:solidFill xmlns:a="http://schemas.openxmlformats.org/drawingml/2006/main">
            <a:srgbClr val="0F1D2D"/>
          </a:solidFill>
          <a:ln xmlns:a="http://schemas.openxmlformats.org/drawingml/2006/main" w="9525">
            <a:solidFill>
              <a:srgbClr val="26384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A4F64-DC2F-4C2B-94C5-780E7FCC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66875"/>
            <a:ext cx="38100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FECA8-AC90-4E8F-B013-C4C24626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19275"/>
            <a:ext cx="474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E96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E96B73"/>
                </a:solidFill>
                <a:latin typeface="Helvetica Neue"/>
                <a:ea typeface="Helvetica Neue"/>
                <a:cs typeface="Helvetica Neue"/>
              </a:rPr>
              <a:t>PORTFOLIO MATH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0BB2A-C0F7-49EC-A59D-E2F1E476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66925"/>
            <a:ext cx="4724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Illustrative stress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E2E14-B4DF-41DC-B52B-539A9590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57450"/>
            <a:ext cx="47053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Sensitivity approximations support a demo workflow; they are not accounting, regulatory capital or loss forecasts.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DC04E-00A1-4A17-A428-98A7E284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Build 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A4BD7-370E-44F5-9564-F38D267D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14825"/>
            <a:ext cx="523875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7335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76E37-1906-45A9-95DA-4E55998A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667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50"/>
          </a:bodyPr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398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 i="0">
                <a:solidFill>
                  <a:srgbClr val="398CFF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5E957-9F06-48FC-8C3F-1BF6B45B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9577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Verify labels, source provenance and entity links with an analyst-reviewed sample.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3BF07-CD06-47C9-9DFA-F0694706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86325"/>
            <a:ext cx="523875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25311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1C4C1F-3610-4B8D-9D6C-8F1984D8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4667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50"/>
          </a:bodyPr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39BB9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 i="0">
                <a:solidFill>
                  <a:srgbClr val="39BB94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C6D70-6D55-44C6-B78C-52A03AC2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6727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Add duplicate-event clustering, calibrated model evaluation and analyst override history.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FF15A-3AE9-4B15-9C52-3E1F3B69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457825"/>
            <a:ext cx="523875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30233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A0C28-E270-49DA-8E67-F26B2424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4667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50"/>
          </a:bodyPr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" b="1" i="0">
                <a:solidFill>
                  <a:srgbClr val="EDF3FA"/>
                </a:solidFill>
                <a:latin typeface="Helvetica Neue"/>
                <a:ea typeface="Helvetica Neue"/>
                <a:cs typeface="Helvetica Neue"/>
              </a:rPr>
              <a:t>SCALE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46001-711E-4883-A5E8-16A3BF08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3877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9AAABD"/>
                </a:solidFill>
                <a:latin typeface="Helvetica Neue"/>
                <a:ea typeface="Helvetica Neue"/>
                <a:cs typeface="Helvetica Neue"/>
              </a:rPr>
              <a:t>Move ingestion/inference to queued workers; add monitoring, access controls and model version governance.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583CD4-7C98-4A4C-ABE8-64B2B15D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41C4BD"/>
                </a:solidFill>
                <a:latin typeface="Helvetica Neue"/>
                <a:ea typeface="Helvetica Neue"/>
                <a:cs typeface="Helvetica Neue"/>
              </a:rPr>
              <a:t>Use as analyst decision support only; a human should review evidence and scenario assumptions.</a:t>
            </a:r>
          </a:p>
        </p:txBody>
      </p:sp>
    </p:spTree>
    <p:extLst>
      <p:ext uri="{BB962C8B-B14F-4D97-AF65-F5344CB8AC3E}">
        <p14:creationId xmlns:p14="http://schemas.microsoft.com/office/powerpoint/2010/main" val="14319074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2026-10-04T19:31:48.8150000Z</dcterms:created>
  <dcterms:modified xsi:type="dcterms:W3CDTF">2026-10-04T19:31:48.8150000Z</dcterms:modified>
</coreProperties>
</file>